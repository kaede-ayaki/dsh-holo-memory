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开场：dsh-holo-memory v0.3.0。三部分：插件介绍、安装方式、注意事项。先用一句话说明它让 agent 跨会话记得你、记得项目。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第一部分：先讲三层记忆和闭环，再讲召回，最后看界面。强调它不是一个数据库，而是记录、蒸馏、召回、注入的完整链路。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三层各司其职：L1 对话摘要，L2 原子事实，L3 整体胶囊。右侧是一轮对话的闭环：捕获、蒸馏、召回、注入；纯本地 JSON。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召回升级为三通道 RRF：词法、字符 n-gram、向量；再加 Active Window 主动补位和 citation 回写。预算按 IMMEDIATE/WORKING/BACKGROUND 分配。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看得见的两个界面：侧边栏的独立控制台，以及聊天工作步骤里的召回行。工作步骤行可以展开看问题、正文和命中 id。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第二部分：安装方式。准备环境、构建、在设置里添加本地目录、重启验证。桌面版 profile 由 Electron 管理，不要用 CLI 改 desktop profile。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四步安装：Node 22.19+，npm install/build/test，设置→插件→添加插件→本地目录，最后完全重启 DSH。数据在 $DSH_HOME/holo-memory。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向量模型是可选的。在侧边栏页面填接口、模型、Key，先检测再保存；不配也能用词法和 n-gram。Key 单独文件保存，GET 不返回。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第三部分：注意事项。重点讲密钥、隐私、token、重启、异步蒸馏、scope 六条，以及 DSH 兼容性。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六条底线逐条过。最后给建议：先小 workspace 试运行，观察召回质量和 token 成本，再日常使用。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收尾：记住该记住的，忘掉该忘掉的。仓库、版本和下一步：P1 内容压缩/marker、Query Intent、更多评测。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-co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58368" y="50292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>
                <a:solidFill>
                  <a:srgbClr val="3AD6E8"/>
                </a:solidFill>
                <a:latin typeface="Segoe UI"/>
                <a:ea typeface="Segoe UI"/>
                <a:cs typeface="Segoe UI"/>
              </a:rPr>
              <a:t>D E E P S E E K   H A R N E S S   ·   M E M O R Y   P L U G I 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7772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5800" b="1">
                <a:solidFill>
                  <a:srgbClr val="EEF3FF"/>
                </a:solidFill>
                <a:latin typeface="Segoe UI"/>
                <a:ea typeface="Segoe UI"/>
                <a:cs typeface="Segoe UI"/>
              </a:rPr>
              <a:t>dsh-</a:t>
            </a:r>
            <a:r>
              <a:rPr sz="5800" b="1">
                <a:solidFill>
                  <a:srgbClr val="5B7CFA"/>
                </a:solidFill>
                <a:latin typeface="Segoe UI"/>
                <a:ea typeface="Segoe UI"/>
                <a:cs typeface="Segoe UI"/>
              </a:rPr>
              <a:t>holo-memory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2395728"/>
            <a:ext cx="68580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800" b="1">
                <a:solidFill>
                  <a:srgbClr val="EEF3FF"/>
                </a:solidFill>
                <a:latin typeface="Microsoft YaHei"/>
                <a:ea typeface="Microsoft YaHei"/>
                <a:cs typeface="Microsoft YaHei"/>
              </a:rPr>
              <a:t>三层全息记忆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4944" y="3127248"/>
            <a:ext cx="6766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5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让 agent 跨会话记得你、记得项目、记得做过什么。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6656" y="3767328"/>
            <a:ext cx="1417320" cy="329184"/>
          </a:xfrm>
          <a:prstGeom prst="roundRect">
            <a:avLst>
              <a:gd name="adj" fmla="val 50000"/>
            </a:avLst>
          </a:prstGeom>
          <a:solidFill>
            <a:srgbClr val="0C1426"/>
          </a:solidFill>
          <a:ln w="11430">
            <a:solidFill>
              <a:srgbClr val="3AD6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6656" y="3817620"/>
            <a:ext cx="14173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3AD6E8"/>
                </a:solidFill>
                <a:latin typeface="Segoe UI"/>
                <a:ea typeface="Segoe UI"/>
                <a:cs typeface="Segoe UI"/>
              </a:rPr>
              <a:t>L1 对话层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221992" y="3767328"/>
            <a:ext cx="1417320" cy="329184"/>
          </a:xfrm>
          <a:prstGeom prst="roundRect">
            <a:avLst>
              <a:gd name="adj" fmla="val 50000"/>
            </a:avLst>
          </a:prstGeom>
          <a:solidFill>
            <a:srgbClr val="0C1426"/>
          </a:solidFill>
          <a:ln w="11430">
            <a:solidFill>
              <a:srgbClr val="5B7C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21992" y="3817620"/>
            <a:ext cx="14173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5B7CFA"/>
                </a:solidFill>
                <a:latin typeface="Segoe UI"/>
                <a:ea typeface="Segoe UI"/>
                <a:cs typeface="Segoe UI"/>
              </a:rPr>
              <a:t>L2 事实层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767328" y="3767328"/>
            <a:ext cx="1417320" cy="329184"/>
          </a:xfrm>
          <a:prstGeom prst="roundRect">
            <a:avLst>
              <a:gd name="adj" fmla="val 50000"/>
            </a:avLst>
          </a:prstGeom>
          <a:solidFill>
            <a:srgbClr val="0C1426"/>
          </a:solidFill>
          <a:ln w="11430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67328" y="3817620"/>
            <a:ext cx="14173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A78BFA"/>
                </a:solidFill>
                <a:latin typeface="Segoe UI"/>
                <a:ea typeface="Segoe UI"/>
                <a:cs typeface="Segoe UI"/>
              </a:rPr>
              <a:t>L3 全息层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4944" y="4370832"/>
            <a:ext cx="749807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RRF 三通道召回  ·  Active Window  ·  引用回写  ·  工作步骤可见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" y="4754880"/>
            <a:ext cx="6400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5F6E8C"/>
                </a:solidFill>
                <a:latin typeface="Segoe UI"/>
                <a:ea typeface="Segoe UI"/>
                <a:cs typeface="Segoe UI"/>
              </a:rPr>
              <a:t>纯本地  ·  可审计  ·  零服务端  ·  v0.3.0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394192" y="1664208"/>
            <a:ext cx="3063240" cy="932688"/>
          </a:xfrm>
          <a:prstGeom prst="roundRect">
            <a:avLst>
              <a:gd name="adj" fmla="val 12000"/>
            </a:avLst>
          </a:prstGeom>
          <a:solidFill>
            <a:srgbClr val="0E1729"/>
          </a:solidFill>
          <a:ln w="12700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558784" y="1901952"/>
            <a:ext cx="457200" cy="457200"/>
          </a:xfrm>
          <a:prstGeom prst="ellipse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070A14"/>
                </a:solidFill>
                <a:latin typeface="Segoe UI"/>
                <a:ea typeface="Segoe UI"/>
                <a:cs typeface="Segoe UI"/>
              </a:rPr>
              <a:t>L3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80576" y="1819656"/>
            <a:ext cx="1554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50" b="1">
                <a:solidFill>
                  <a:srgbClr val="EEF3FF"/>
                </a:solidFill>
                <a:latin typeface="Microsoft YaHei"/>
                <a:ea typeface="Microsoft YaHei"/>
                <a:cs typeface="Microsoft YaHei"/>
              </a:rPr>
              <a:t>全息记忆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80576" y="2148840"/>
            <a:ext cx="15544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整体胶囊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25912" y="1993392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5F6E8C"/>
                </a:solidFill>
                <a:latin typeface="Segoe UI"/>
                <a:ea typeface="Segoe UI"/>
                <a:cs typeface="Segoe UI"/>
              </a:rPr>
              <a:t>auto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394192" y="2688336"/>
            <a:ext cx="3063240" cy="932688"/>
          </a:xfrm>
          <a:prstGeom prst="roundRect">
            <a:avLst>
              <a:gd name="adj" fmla="val 12000"/>
            </a:avLst>
          </a:prstGeom>
          <a:solidFill>
            <a:srgbClr val="0E1729"/>
          </a:solidFill>
          <a:ln w="12700">
            <a:solidFill>
              <a:srgbClr val="5B7C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558784" y="2926080"/>
            <a:ext cx="457200" cy="457200"/>
          </a:xfrm>
          <a:prstGeom prst="ellipse">
            <a:avLst/>
          </a:prstGeom>
          <a:solidFill>
            <a:srgbClr val="5B7C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070A14"/>
                </a:solidFill>
                <a:latin typeface="Segoe UI"/>
                <a:ea typeface="Segoe UI"/>
                <a:cs typeface="Segoe UI"/>
              </a:rPr>
              <a:t>L2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80576" y="2843784"/>
            <a:ext cx="1554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50" b="1">
                <a:solidFill>
                  <a:srgbClr val="EEF3FF"/>
                </a:solidFill>
                <a:latin typeface="Microsoft YaHei"/>
                <a:ea typeface="Microsoft YaHei"/>
                <a:cs typeface="Microsoft YaHei"/>
              </a:rPr>
              <a:t>事实层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80576" y="3172968"/>
            <a:ext cx="15544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原子事实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25912" y="3017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5F6E8C"/>
                </a:solidFill>
                <a:latin typeface="Segoe UI"/>
                <a:ea typeface="Segoe UI"/>
                <a:cs typeface="Segoe UI"/>
              </a:rPr>
              <a:t>auto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394192" y="3712464"/>
            <a:ext cx="3063240" cy="932688"/>
          </a:xfrm>
          <a:prstGeom prst="roundRect">
            <a:avLst>
              <a:gd name="adj" fmla="val 12000"/>
            </a:avLst>
          </a:prstGeom>
          <a:solidFill>
            <a:srgbClr val="0E1729"/>
          </a:solidFill>
          <a:ln w="12700">
            <a:solidFill>
              <a:srgbClr val="3AD6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558784" y="3950208"/>
            <a:ext cx="457200" cy="457200"/>
          </a:xfrm>
          <a:prstGeom prst="ellipse">
            <a:avLst/>
          </a:prstGeom>
          <a:solidFill>
            <a:srgbClr val="3AD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070A14"/>
                </a:solidFill>
                <a:latin typeface="Segoe UI"/>
                <a:ea typeface="Segoe UI"/>
                <a:cs typeface="Segoe UI"/>
              </a:rPr>
              <a:t>L1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80576" y="3867912"/>
            <a:ext cx="1554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50" b="1">
                <a:solidFill>
                  <a:srgbClr val="EEF3FF"/>
                </a:solidFill>
                <a:latin typeface="Microsoft YaHei"/>
                <a:ea typeface="Microsoft YaHei"/>
                <a:cs typeface="Microsoft YaHei"/>
              </a:rPr>
              <a:t>对话层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80576" y="4197096"/>
            <a:ext cx="15544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每轮摘要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25912" y="404164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5F6E8C"/>
                </a:solidFill>
                <a:latin typeface="Segoe UI"/>
                <a:ea typeface="Segoe UI"/>
                <a:cs typeface="Segoe UI"/>
              </a:rPr>
              <a:t>auto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4944" y="5504688"/>
            <a:ext cx="1828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5F6E8C"/>
                </a:solidFill>
                <a:latin typeface="Segoe UI"/>
                <a:ea typeface="Segoe UI"/>
                <a:cs typeface="Segoe UI"/>
              </a:rPr>
              <a:t>本 次 内 容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847088" y="5449824"/>
            <a:ext cx="2971800" cy="457200"/>
          </a:xfrm>
          <a:prstGeom prst="roundRect">
            <a:avLst>
              <a:gd name="adj" fmla="val 10000"/>
            </a:avLst>
          </a:prstGeom>
          <a:solidFill>
            <a:srgbClr val="0E1729"/>
          </a:solidFill>
          <a:ln w="10160">
            <a:solidFill>
              <a:srgbClr val="2332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993392" y="5513832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3AD6E8"/>
                </a:solidFill>
                <a:latin typeface="Segoe UI"/>
                <a:ea typeface="Segoe UI"/>
                <a:cs typeface="Segoe UI"/>
              </a:rPr>
              <a:t>01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414016" y="5504688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EEF3FF"/>
                </a:solidFill>
                <a:latin typeface="Microsoft YaHei"/>
                <a:ea typeface="Microsoft YaHei"/>
                <a:cs typeface="Microsoft YaHei"/>
              </a:rPr>
              <a:t>插件介绍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093208" y="5449824"/>
            <a:ext cx="2971800" cy="457200"/>
          </a:xfrm>
          <a:prstGeom prst="roundRect">
            <a:avLst>
              <a:gd name="adj" fmla="val 10000"/>
            </a:avLst>
          </a:prstGeom>
          <a:solidFill>
            <a:srgbClr val="0E1729"/>
          </a:solidFill>
          <a:ln w="10160">
            <a:solidFill>
              <a:srgbClr val="2332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239512" y="5513832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4ADE80"/>
                </a:solidFill>
                <a:latin typeface="Segoe UI"/>
                <a:ea typeface="Segoe UI"/>
                <a:cs typeface="Segoe UI"/>
              </a:rPr>
              <a:t>02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0136" y="5504688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EEF3FF"/>
                </a:solidFill>
                <a:latin typeface="Microsoft YaHei"/>
                <a:ea typeface="Microsoft YaHei"/>
                <a:cs typeface="Microsoft YaHei"/>
              </a:rPr>
              <a:t>安装方式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339327" y="5449824"/>
            <a:ext cx="2971800" cy="457200"/>
          </a:xfrm>
          <a:prstGeom prst="roundRect">
            <a:avLst>
              <a:gd name="adj" fmla="val 10000"/>
            </a:avLst>
          </a:prstGeom>
          <a:solidFill>
            <a:srgbClr val="0E1729"/>
          </a:solidFill>
          <a:ln w="10160">
            <a:solidFill>
              <a:srgbClr val="2332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485632" y="5513832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F5B84C"/>
                </a:solidFill>
                <a:latin typeface="Segoe UI"/>
                <a:ea typeface="Segoe UI"/>
                <a:cs typeface="Segoe UI"/>
              </a:rPr>
              <a:t>03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906255" y="5504688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EEF3FF"/>
                </a:solidFill>
                <a:latin typeface="Microsoft YaHei"/>
                <a:ea typeface="Microsoft YaHei"/>
                <a:cs typeface="Microsoft YaHei"/>
              </a:rPr>
              <a:t>注意事项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4944" y="6053328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5F6E8C"/>
                </a:solidFill>
                <a:latin typeface="Segoe UI"/>
                <a:ea typeface="Segoe UI"/>
                <a:cs typeface="Segoe UI"/>
              </a:rPr>
              <a:t>2026.10  ·  v0.3.0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-s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30352" y="1234440"/>
            <a:ext cx="2743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0" b="1">
                <a:solidFill>
                  <a:srgbClr val="182746"/>
                </a:solidFill>
                <a:latin typeface="Segoe UI"/>
                <a:ea typeface="Segoe UI"/>
                <a:cs typeface="Segoe UI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965960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3AD6E8"/>
                </a:solidFill>
                <a:latin typeface="Segoe UI"/>
                <a:ea typeface="Segoe UI"/>
                <a:cs typeface="Segoe UI"/>
              </a:rPr>
              <a:t>PART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3504" y="2331720"/>
            <a:ext cx="54864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800" b="1">
                <a:solidFill>
                  <a:srgbClr val="EEF3FF"/>
                </a:solidFill>
                <a:latin typeface="Microsoft YaHei"/>
                <a:ea typeface="Microsoft YaHei"/>
                <a:cs typeface="Microsoft YaHei"/>
              </a:rPr>
              <a:t>插件介绍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182112"/>
            <a:ext cx="5852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50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三层记忆、三通道召回、主动补位，以及为什么这次“看得见”。</a:t>
            </a:r>
          </a:p>
        </p:txBody>
      </p:sp>
      <p:sp>
        <p:nvSpPr>
          <p:cNvPr id="7" name="Oval 6"/>
          <p:cNvSpPr/>
          <p:nvPr/>
        </p:nvSpPr>
        <p:spPr>
          <a:xfrm>
            <a:off x="676656" y="4069080"/>
            <a:ext cx="310896" cy="310896"/>
          </a:xfrm>
          <a:prstGeom prst="ellipse">
            <a:avLst/>
          </a:prstGeom>
          <a:solidFill>
            <a:srgbClr val="3AD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080C18"/>
                </a:solidFill>
                <a:latin typeface="Segoe UI"/>
                <a:ea typeface="Segoe UI"/>
                <a:cs typeface="Segoe U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4041648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EEF3FF"/>
                </a:solidFill>
                <a:latin typeface="Microsoft YaHei"/>
                <a:ea typeface="Microsoft YaHei"/>
                <a:cs typeface="Microsoft YaHei"/>
              </a:rPr>
              <a:t>三层记忆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0" y="402336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L1 对话摘要 · L2 原子事实 · L3 整体胶囊</a:t>
            </a:r>
          </a:p>
        </p:txBody>
      </p:sp>
      <p:sp>
        <p:nvSpPr>
          <p:cNvPr id="10" name="Oval 9"/>
          <p:cNvSpPr/>
          <p:nvPr/>
        </p:nvSpPr>
        <p:spPr>
          <a:xfrm>
            <a:off x="676656" y="4636008"/>
            <a:ext cx="310896" cy="310896"/>
          </a:xfrm>
          <a:prstGeom prst="ellipse">
            <a:avLst/>
          </a:prstGeom>
          <a:solidFill>
            <a:srgbClr val="3AD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080C18"/>
                </a:solidFill>
                <a:latin typeface="Segoe UI"/>
                <a:ea typeface="Segoe UI"/>
                <a:cs typeface="Segoe U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" y="4608576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EEF3FF"/>
                </a:solidFill>
                <a:latin typeface="Microsoft YaHei"/>
                <a:ea typeface="Microsoft YaHei"/>
                <a:cs typeface="Microsoft YaHei"/>
              </a:rPr>
              <a:t>混合召回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26080" y="4590288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RRF 三通道 + Active Window + 引用回写</a:t>
            </a:r>
          </a:p>
        </p:txBody>
      </p:sp>
      <p:sp>
        <p:nvSpPr>
          <p:cNvPr id="13" name="Oval 12"/>
          <p:cNvSpPr/>
          <p:nvPr/>
        </p:nvSpPr>
        <p:spPr>
          <a:xfrm>
            <a:off x="676656" y="5202936"/>
            <a:ext cx="310896" cy="310896"/>
          </a:xfrm>
          <a:prstGeom prst="ellipse">
            <a:avLst/>
          </a:prstGeom>
          <a:solidFill>
            <a:srgbClr val="3AD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080C18"/>
                </a:solidFill>
                <a:latin typeface="Segoe UI"/>
                <a:ea typeface="Segoe UI"/>
                <a:cs typeface="Segoe U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" y="5175504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EEF3FF"/>
                </a:solidFill>
                <a:latin typeface="Microsoft YaHei"/>
                <a:ea typeface="Microsoft YaHei"/>
                <a:cs typeface="Microsoft YaHei"/>
              </a:rPr>
              <a:t>看得见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26080" y="5157216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侧边栏一级页面 + 聊天工作步骤行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6446520"/>
            <a:ext cx="7772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5F6E8C"/>
                </a:solidFill>
                <a:latin typeface="Segoe UI"/>
                <a:ea typeface="Segoe UI"/>
                <a:cs typeface="Segoe UI"/>
              </a:rPr>
              <a:t>dsh-holo-memory  ·  DeepSeek Harness memory plugin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81360" y="641908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93A1BF"/>
                </a:solidFill>
                <a:latin typeface="Segoe UI"/>
                <a:ea typeface="Segoe UI"/>
                <a:cs typeface="Segoe UI"/>
              </a:rPr>
              <a:t>02 / 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-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38404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5B7CFA"/>
                </a:solidFill>
                <a:latin typeface="Segoe UI"/>
                <a:ea typeface="Segoe UI"/>
                <a:cs typeface="Segoe UI"/>
              </a:rPr>
              <a:t>PLUGIN / WHAT IT DOES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85216" y="640080"/>
            <a:ext cx="310896" cy="32004"/>
          </a:xfrm>
          <a:prstGeom prst="roundRect">
            <a:avLst>
              <a:gd name="adj" fmla="val 0"/>
            </a:avLst>
          </a:prstGeom>
          <a:solidFill>
            <a:srgbClr val="5B7C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900" b="1">
                <a:solidFill>
                  <a:srgbClr val="EEF3FF"/>
                </a:solidFill>
                <a:latin typeface="Microsoft YaHei"/>
                <a:ea typeface="Microsoft YaHei"/>
                <a:cs typeface="Microsoft YaHei"/>
              </a:rPr>
              <a:t>记忆不是数据库，是一条完整闭环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216" y="1481328"/>
            <a:ext cx="6583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新会话默认是一张白纸；插件把「记录 → 蒸馏 → 召回 → 注入」接了起来。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938528"/>
            <a:ext cx="6537960" cy="1005840"/>
          </a:xfrm>
          <a:prstGeom prst="roundRect">
            <a:avLst>
              <a:gd name="adj" fmla="val 8000"/>
            </a:avLst>
          </a:prstGeom>
          <a:solidFill>
            <a:srgbClr val="0E1729"/>
          </a:solidFill>
          <a:ln w="10160">
            <a:solidFill>
              <a:srgbClr val="2332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66928" y="1938528"/>
            <a:ext cx="73152" cy="1005840"/>
          </a:xfrm>
          <a:prstGeom prst="roundRect">
            <a:avLst>
              <a:gd name="adj" fmla="val 0"/>
            </a:avLst>
          </a:prstGeom>
          <a:solidFill>
            <a:srgbClr val="3AD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04672" y="2203704"/>
            <a:ext cx="457200" cy="457200"/>
          </a:xfrm>
          <a:prstGeom prst="ellipse">
            <a:avLst/>
          </a:prstGeom>
          <a:solidFill>
            <a:srgbClr val="3AD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070A14"/>
                </a:solidFill>
                <a:latin typeface="Segoe UI"/>
                <a:ea typeface="Segoe UI"/>
                <a:cs typeface="Segoe UI"/>
              </a:rPr>
              <a:t>L1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26464" y="2066544"/>
            <a:ext cx="1828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50" b="1">
                <a:solidFill>
                  <a:srgbClr val="EEF3FF"/>
                </a:solidFill>
                <a:latin typeface="Microsoft YaHei"/>
                <a:ea typeface="Microsoft YaHei"/>
                <a:cs typeface="Microsoft YaHei"/>
              </a:rPr>
              <a:t>对话层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26464" y="2404872"/>
            <a:ext cx="2286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>
                <a:solidFill>
                  <a:srgbClr val="3AD6E8"/>
                </a:solidFill>
                <a:latin typeface="Microsoft YaHei"/>
                <a:ea typeface="Microsoft YaHei"/>
                <a:cs typeface="Microsoft YaHei"/>
              </a:rPr>
              <a:t>每轮一条摘要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03320" y="2121408"/>
            <a:ext cx="315468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用户要什么 · 做了什么 · 结果如何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108960"/>
            <a:ext cx="6537960" cy="1005840"/>
          </a:xfrm>
          <a:prstGeom prst="roundRect">
            <a:avLst>
              <a:gd name="adj" fmla="val 8000"/>
            </a:avLst>
          </a:prstGeom>
          <a:solidFill>
            <a:srgbClr val="0E1729"/>
          </a:solidFill>
          <a:ln w="10160">
            <a:solidFill>
              <a:srgbClr val="2332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66928" y="3108960"/>
            <a:ext cx="73152" cy="1005840"/>
          </a:xfrm>
          <a:prstGeom prst="roundRect">
            <a:avLst>
              <a:gd name="adj" fmla="val 0"/>
            </a:avLst>
          </a:prstGeom>
          <a:solidFill>
            <a:srgbClr val="5B7C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04672" y="3374136"/>
            <a:ext cx="457200" cy="457200"/>
          </a:xfrm>
          <a:prstGeom prst="ellipse">
            <a:avLst/>
          </a:prstGeom>
          <a:solidFill>
            <a:srgbClr val="5B7C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070A14"/>
                </a:solidFill>
                <a:latin typeface="Segoe UI"/>
                <a:ea typeface="Segoe UI"/>
                <a:cs typeface="Segoe UI"/>
              </a:rPr>
              <a:t>L2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26464" y="3236976"/>
            <a:ext cx="1828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50" b="1">
                <a:solidFill>
                  <a:srgbClr val="EEF3FF"/>
                </a:solidFill>
                <a:latin typeface="Microsoft YaHei"/>
                <a:ea typeface="Microsoft YaHei"/>
                <a:cs typeface="Microsoft YaHei"/>
              </a:rPr>
              <a:t>事实层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26464" y="3575304"/>
            <a:ext cx="2286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>
                <a:solidFill>
                  <a:srgbClr val="5B7CFA"/>
                </a:solidFill>
                <a:latin typeface="Microsoft YaHei"/>
                <a:ea typeface="Microsoft YaHei"/>
                <a:cs typeface="Microsoft YaHei"/>
              </a:rPr>
              <a:t>原子事实，可追溯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03320" y="3291840"/>
            <a:ext cx="315468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偏好 / 决策 / 约定 / 待办 / 纠正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279392"/>
            <a:ext cx="6537960" cy="1005840"/>
          </a:xfrm>
          <a:prstGeom prst="roundRect">
            <a:avLst>
              <a:gd name="adj" fmla="val 8000"/>
            </a:avLst>
          </a:prstGeom>
          <a:solidFill>
            <a:srgbClr val="0E1729"/>
          </a:solidFill>
          <a:ln w="10160">
            <a:solidFill>
              <a:srgbClr val="2332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66928" y="4279392"/>
            <a:ext cx="73152" cy="1005840"/>
          </a:xfrm>
          <a:prstGeom prst="roundRect">
            <a:avLst>
              <a:gd name="adj" fmla="val 0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04672" y="4544568"/>
            <a:ext cx="457200" cy="457200"/>
          </a:xfrm>
          <a:prstGeom prst="ellipse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070A14"/>
                </a:solidFill>
                <a:latin typeface="Segoe UI"/>
                <a:ea typeface="Segoe UI"/>
                <a:cs typeface="Segoe UI"/>
              </a:rPr>
              <a:t>L3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26464" y="4407407"/>
            <a:ext cx="1828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50" b="1">
                <a:solidFill>
                  <a:srgbClr val="EEF3FF"/>
                </a:solidFill>
                <a:latin typeface="Microsoft YaHei"/>
                <a:ea typeface="Microsoft YaHei"/>
                <a:cs typeface="Microsoft YaHei"/>
              </a:rPr>
              <a:t>全息层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26464" y="4745736"/>
            <a:ext cx="2286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>
                <a:solidFill>
                  <a:srgbClr val="A78BFA"/>
                </a:solidFill>
                <a:latin typeface="Microsoft YaHei"/>
                <a:ea typeface="Microsoft YaHei"/>
                <a:cs typeface="Microsoft YaHei"/>
              </a:rPr>
              <a:t>跨多轮的整体胶囊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03320" y="4462272"/>
            <a:ext cx="315468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用户画像 / 项目状态 / 未闭环线索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5216" y="557784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5F6E8C"/>
                </a:solidFill>
                <a:latin typeface="Microsoft YaHei"/>
                <a:ea typeface="Microsoft YaHei"/>
                <a:cs typeface="Microsoft YaHei"/>
              </a:rPr>
              <a:t>每层都有条数上限；超过上限按重要度与时间淘汰。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498079" y="1600200"/>
            <a:ext cx="4114800" cy="4343400"/>
          </a:xfrm>
          <a:prstGeom prst="roundRect">
            <a:avLst>
              <a:gd name="adj" fmla="val 8000"/>
            </a:avLst>
          </a:prstGeom>
          <a:solidFill>
            <a:srgbClr val="0B1324"/>
          </a:solidFill>
          <a:ln w="10160">
            <a:solidFill>
              <a:srgbClr val="2332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0" y="1801368"/>
            <a:ext cx="1828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3AD6E8"/>
                </a:solidFill>
                <a:latin typeface="Segoe UI"/>
                <a:ea typeface="Segoe UI"/>
                <a:cs typeface="Segoe UI"/>
              </a:rPr>
              <a:t>ONE TURN</a:t>
            </a:r>
          </a:p>
        </p:txBody>
      </p:sp>
      <p:sp>
        <p:nvSpPr>
          <p:cNvPr id="28" name="Oval 27"/>
          <p:cNvSpPr/>
          <p:nvPr/>
        </p:nvSpPr>
        <p:spPr>
          <a:xfrm>
            <a:off x="7754111" y="2258568"/>
            <a:ext cx="329184" cy="329184"/>
          </a:xfrm>
          <a:prstGeom prst="ellipse">
            <a:avLst/>
          </a:prstGeom>
          <a:solidFill>
            <a:srgbClr val="3AD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080C18"/>
                </a:solidFill>
                <a:latin typeface="Segoe UI"/>
                <a:ea typeface="Segoe UI"/>
                <a:cs typeface="Segoe UI"/>
              </a:rPr>
              <a:t>01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11311" y="218541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>
                <a:solidFill>
                  <a:srgbClr val="EEF3FF"/>
                </a:solidFill>
                <a:latin typeface="Microsoft YaHei"/>
                <a:ea typeface="Microsoft YaHei"/>
                <a:cs typeface="Microsoft YaHei"/>
              </a:rPr>
              <a:t>捕获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979408" y="2176272"/>
            <a:ext cx="2423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19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turn/start · user · assistant · turn/end</a:t>
            </a:r>
          </a:p>
        </p:txBody>
      </p:sp>
      <p:sp>
        <p:nvSpPr>
          <p:cNvPr id="31" name="Oval 30"/>
          <p:cNvSpPr/>
          <p:nvPr/>
        </p:nvSpPr>
        <p:spPr>
          <a:xfrm>
            <a:off x="7754111" y="3108960"/>
            <a:ext cx="329184" cy="329184"/>
          </a:xfrm>
          <a:prstGeom prst="ellipse">
            <a:avLst/>
          </a:prstGeom>
          <a:solidFill>
            <a:srgbClr val="5B7C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080C18"/>
                </a:solidFill>
                <a:latin typeface="Segoe UI"/>
                <a:ea typeface="Segoe UI"/>
                <a:cs typeface="Segoe UI"/>
              </a:rPr>
              <a:t>02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11311" y="303580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>
                <a:solidFill>
                  <a:srgbClr val="EEF3FF"/>
                </a:solidFill>
                <a:latin typeface="Microsoft YaHei"/>
                <a:ea typeface="Microsoft YaHei"/>
                <a:cs typeface="Microsoft YaHei"/>
              </a:rPr>
              <a:t>蒸馏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979408" y="3026664"/>
            <a:ext cx="2423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19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1 次 LLM → 严格 JSON（L1/L2/L3）</a:t>
            </a:r>
          </a:p>
        </p:txBody>
      </p:sp>
      <p:sp>
        <p:nvSpPr>
          <p:cNvPr id="34" name="Oval 33"/>
          <p:cNvSpPr/>
          <p:nvPr/>
        </p:nvSpPr>
        <p:spPr>
          <a:xfrm>
            <a:off x="7754111" y="3959352"/>
            <a:ext cx="329184" cy="329184"/>
          </a:xfrm>
          <a:prstGeom prst="ellipse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080C18"/>
                </a:solidFill>
                <a:latin typeface="Segoe UI"/>
                <a:ea typeface="Segoe UI"/>
                <a:cs typeface="Segoe UI"/>
              </a:rPr>
              <a:t>03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11311" y="388620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>
                <a:solidFill>
                  <a:srgbClr val="EEF3FF"/>
                </a:solidFill>
                <a:latin typeface="Microsoft YaHei"/>
                <a:ea typeface="Microsoft YaHei"/>
                <a:cs typeface="Microsoft YaHei"/>
              </a:rPr>
              <a:t>召回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979408" y="3877056"/>
            <a:ext cx="2423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19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RRF + Active Window</a:t>
            </a:r>
          </a:p>
        </p:txBody>
      </p:sp>
      <p:sp>
        <p:nvSpPr>
          <p:cNvPr id="37" name="Oval 36"/>
          <p:cNvSpPr/>
          <p:nvPr/>
        </p:nvSpPr>
        <p:spPr>
          <a:xfrm>
            <a:off x="7754111" y="4809744"/>
            <a:ext cx="329184" cy="329184"/>
          </a:xfrm>
          <a:prstGeom prst="ellipse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080C18"/>
                </a:solidFill>
                <a:latin typeface="Segoe UI"/>
                <a:ea typeface="Segoe UI"/>
                <a:cs typeface="Segoe UI"/>
              </a:rPr>
              <a:t>04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11311" y="473659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>
                <a:solidFill>
                  <a:srgbClr val="EEF3FF"/>
                </a:solidFill>
                <a:latin typeface="Microsoft YaHei"/>
                <a:ea typeface="Microsoft YaHei"/>
                <a:cs typeface="Microsoft YaHei"/>
              </a:rPr>
              <a:t>注入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979408" y="4727448"/>
            <a:ext cx="2423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19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带 id 的 snapshot，≤1400 字符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772400" y="5458968"/>
            <a:ext cx="3566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5F6E8C"/>
                </a:solidFill>
                <a:latin typeface="Segoe UI"/>
                <a:ea typeface="Segoe UI"/>
                <a:cs typeface="Segoe UI"/>
              </a:rPr>
              <a:t>纯本地 JSON · 原子写 · 密钥脱敏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8" y="6446520"/>
            <a:ext cx="7772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5F6E8C"/>
                </a:solidFill>
                <a:latin typeface="Segoe UI"/>
                <a:ea typeface="Segoe UI"/>
                <a:cs typeface="Segoe UI"/>
              </a:rPr>
              <a:t>dsh-holo-memory  ·  DeepSeek Harness memory plugin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881360" y="641908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93A1BF"/>
                </a:solidFill>
                <a:latin typeface="Segoe UI"/>
                <a:ea typeface="Segoe UI"/>
                <a:cs typeface="Segoe UI"/>
              </a:rPr>
              <a:t>03 / 11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-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38404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5B7CFA"/>
                </a:solidFill>
                <a:latin typeface="Segoe UI"/>
                <a:ea typeface="Segoe UI"/>
                <a:cs typeface="Segoe UI"/>
              </a:rPr>
              <a:t>PLUGIN / RETRIEVAL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85216" y="640080"/>
            <a:ext cx="310896" cy="32004"/>
          </a:xfrm>
          <a:prstGeom prst="roundRect">
            <a:avLst>
              <a:gd name="adj" fmla="val 0"/>
            </a:avLst>
          </a:prstGeom>
          <a:solidFill>
            <a:srgbClr val="5B7C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900" b="1">
                <a:solidFill>
                  <a:srgbClr val="EEF3FF"/>
                </a:solidFill>
                <a:latin typeface="Microsoft YaHei"/>
                <a:ea typeface="Microsoft YaHei"/>
                <a:cs typeface="Microsoft YaHei"/>
              </a:rPr>
              <a:t>召回：三条独立通道 + 一个主动窗口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572768"/>
            <a:ext cx="3529584" cy="1298448"/>
          </a:xfrm>
          <a:prstGeom prst="roundRect">
            <a:avLst>
              <a:gd name="adj" fmla="val 8000"/>
            </a:avLst>
          </a:prstGeom>
          <a:solidFill>
            <a:srgbClr val="0E1729"/>
          </a:solidFill>
          <a:ln w="11430">
            <a:solidFill>
              <a:srgbClr val="3AD6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6" y="1737360"/>
            <a:ext cx="12801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1">
                <a:solidFill>
                  <a:srgbClr val="3AD6E8"/>
                </a:solidFill>
                <a:latin typeface="Segoe UI"/>
                <a:ea typeface="Segoe UI"/>
                <a:cs typeface="Segoe UI"/>
              </a:rPr>
              <a:t>LEXICAL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6" y="1993392"/>
            <a:ext cx="3108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50" b="1">
                <a:solidFill>
                  <a:srgbClr val="EEF3FF"/>
                </a:solidFill>
                <a:latin typeface="Microsoft YaHei"/>
                <a:ea typeface="Microsoft YaHei"/>
                <a:cs typeface="Microsoft YaHei"/>
              </a:rPr>
              <a:t>BM25 + 中文 bigram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" y="2359152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19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术语、路径、专名；零依赖永远可用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79392" y="1572768"/>
            <a:ext cx="3529584" cy="1298448"/>
          </a:xfrm>
          <a:prstGeom prst="roundRect">
            <a:avLst>
              <a:gd name="adj" fmla="val 8000"/>
            </a:avLst>
          </a:prstGeom>
          <a:solidFill>
            <a:srgbClr val="0E1729"/>
          </a:solidFill>
          <a:ln w="11430">
            <a:solidFill>
              <a:srgbClr val="4ADE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80559" y="1737360"/>
            <a:ext cx="12801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1">
                <a:solidFill>
                  <a:srgbClr val="4ADE80"/>
                </a:solidFill>
                <a:latin typeface="Segoe UI"/>
                <a:ea typeface="Segoe UI"/>
                <a:cs typeface="Segoe UI"/>
              </a:rPr>
              <a:t>NGRAM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59" y="1993392"/>
            <a:ext cx="3108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50" b="1">
                <a:solidFill>
                  <a:srgbClr val="EEF3FF"/>
                </a:solidFill>
                <a:latin typeface="Microsoft YaHei"/>
                <a:ea typeface="Microsoft YaHei"/>
                <a:cs typeface="Microsoft YaHei"/>
              </a:rPr>
              <a:t>字符 2/3-gram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59" y="2359152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19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中文子串、错字、中英混合补位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91855" y="1572768"/>
            <a:ext cx="3529584" cy="1298448"/>
          </a:xfrm>
          <a:prstGeom prst="roundRect">
            <a:avLst>
              <a:gd name="adj" fmla="val 8000"/>
            </a:avLst>
          </a:prstGeom>
          <a:solidFill>
            <a:srgbClr val="0E1729"/>
          </a:solidFill>
          <a:ln w="11430">
            <a:solidFill>
              <a:srgbClr val="5B7C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93023" y="1737360"/>
            <a:ext cx="12801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1">
                <a:solidFill>
                  <a:srgbClr val="5B7CFA"/>
                </a:solidFill>
                <a:latin typeface="Segoe UI"/>
                <a:ea typeface="Segoe UI"/>
                <a:cs typeface="Segoe UI"/>
              </a:rPr>
              <a:t>VECTOR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93023" y="1993392"/>
            <a:ext cx="3108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50" b="1">
                <a:solidFill>
                  <a:srgbClr val="EEF3FF"/>
                </a:solidFill>
                <a:latin typeface="Microsoft YaHei"/>
                <a:ea typeface="Microsoft YaHei"/>
                <a:cs typeface="Microsoft YaHei"/>
              </a:rPr>
              <a:t>Qwen3-Embedding-8B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93023" y="2359152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19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4096 维语义；baseline 校准后参与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3090672"/>
            <a:ext cx="6903720" cy="987552"/>
          </a:xfrm>
          <a:prstGeom prst="roundRect">
            <a:avLst>
              <a:gd name="adj" fmla="val 8000"/>
            </a:avLst>
          </a:prstGeom>
          <a:solidFill>
            <a:srgbClr val="0B1324"/>
          </a:solidFill>
          <a:ln w="10160">
            <a:solidFill>
              <a:srgbClr val="2332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3246120"/>
            <a:ext cx="630936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0">
                <a:solidFill>
                  <a:srgbClr val="EEF3FF"/>
                </a:solidFill>
                <a:latin typeface="Consolas"/>
                <a:ea typeface="Consolas"/>
                <a:cs typeface="Consolas"/>
              </a:rPr>
              <a:t>RRF(d)  =  Σ  1 / (60 + rank_c(d))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3639312"/>
            <a:ext cx="6309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19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三路排名融合，不把不同量纲的原始分硬相加；同 content_hash 并列。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261104"/>
            <a:ext cx="3474720" cy="1417320"/>
          </a:xfrm>
          <a:prstGeom prst="roundRect">
            <a:avLst>
              <a:gd name="adj" fmla="val 8000"/>
            </a:avLst>
          </a:prstGeom>
          <a:solidFill>
            <a:srgbClr val="0E1729"/>
          </a:solidFill>
          <a:ln w="11430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6384" y="4407408"/>
            <a:ext cx="1828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1">
                <a:solidFill>
                  <a:srgbClr val="A78BFA"/>
                </a:solidFill>
                <a:latin typeface="Segoe UI"/>
                <a:ea typeface="Segoe UI"/>
                <a:cs typeface="Segoe UI"/>
              </a:rPr>
              <a:t>ACTIVE WINDOW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6384" y="4645152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1">
                <a:solidFill>
                  <a:srgbClr val="EEF3FF"/>
                </a:solidFill>
                <a:latin typeface="Microsoft YaHei"/>
                <a:ea typeface="Microsoft YaHei"/>
                <a:cs typeface="Microsoft YaHei"/>
              </a:rPr>
              <a:t>主动补位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6384" y="4983480"/>
            <a:ext cx="29718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高重要度 L2/L3；独立预留 420 字符；query 无命中也带。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187952" y="4261104"/>
            <a:ext cx="3291840" cy="1417320"/>
          </a:xfrm>
          <a:prstGeom prst="roundRect">
            <a:avLst>
              <a:gd name="adj" fmla="val 8000"/>
            </a:avLst>
          </a:prstGeom>
          <a:solidFill>
            <a:srgbClr val="0E1729"/>
          </a:solidFill>
          <a:ln w="11430">
            <a:solidFill>
              <a:srgbClr val="4ADE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407408" y="4407408"/>
            <a:ext cx="14630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1">
                <a:solidFill>
                  <a:srgbClr val="4ADE80"/>
                </a:solidFill>
                <a:latin typeface="Segoe UI"/>
                <a:ea typeface="Segoe UI"/>
                <a:cs typeface="Segoe UI"/>
              </a:rPr>
              <a:t>CITATION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07408" y="4645152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1">
                <a:solidFill>
                  <a:srgbClr val="EEF3FF"/>
                </a:solidFill>
                <a:latin typeface="Microsoft YaHei"/>
                <a:ea typeface="Microsoft YaHei"/>
                <a:cs typeface="Microsoft YaHei"/>
              </a:rPr>
              <a:t>引用回写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07408" y="4983480"/>
            <a:ext cx="28346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每行带 (id:xxxxxxxx)；回答引用后回写 citedCount。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726679" y="3090672"/>
            <a:ext cx="3886200" cy="2587752"/>
          </a:xfrm>
          <a:prstGeom prst="roundRect">
            <a:avLst>
              <a:gd name="adj" fmla="val 8000"/>
            </a:avLst>
          </a:prstGeom>
          <a:solidFill>
            <a:srgbClr val="0B1324"/>
          </a:solidFill>
          <a:ln w="10160">
            <a:solidFill>
              <a:srgbClr val="2332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964423" y="3255264"/>
            <a:ext cx="21945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1">
                <a:solidFill>
                  <a:srgbClr val="3AD6E8"/>
                </a:solidFill>
                <a:latin typeface="Segoe UI"/>
                <a:ea typeface="Segoe UI"/>
                <a:cs typeface="Segoe UI"/>
              </a:rPr>
              <a:t>INJECTION BUDGET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946136" y="3511296"/>
            <a:ext cx="20116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800" b="1">
                <a:solidFill>
                  <a:srgbClr val="EEF3FF"/>
                </a:solidFill>
                <a:latin typeface="Segoe UI"/>
                <a:ea typeface="Segoe UI"/>
                <a:cs typeface="Segoe UI"/>
              </a:rPr>
              <a:t>≤ 1400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90888" y="3749039"/>
            <a:ext cx="731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字符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64423" y="4187952"/>
            <a:ext cx="12344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1">
                <a:solidFill>
                  <a:srgbClr val="4ADE80"/>
                </a:solidFill>
                <a:latin typeface="Segoe UI"/>
                <a:ea typeface="Segoe UI"/>
                <a:cs typeface="Segoe UI"/>
              </a:rPr>
              <a:t>IMMEDIATE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262872" y="4233672"/>
            <a:ext cx="1737360" cy="128016"/>
          </a:xfrm>
          <a:prstGeom prst="roundRect">
            <a:avLst>
              <a:gd name="adj" fmla="val 50000"/>
            </a:avLst>
          </a:prstGeom>
          <a:solidFill>
            <a:srgbClr val="1A25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9262872" y="4233672"/>
            <a:ext cx="868680" cy="128016"/>
          </a:xfrm>
          <a:prstGeom prst="roundRect">
            <a:avLst>
              <a:gd name="adj" fmla="val 50000"/>
            </a:avLst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964423" y="4572000"/>
            <a:ext cx="12344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1">
                <a:solidFill>
                  <a:srgbClr val="5B7CFA"/>
                </a:solidFill>
                <a:latin typeface="Segoe UI"/>
                <a:ea typeface="Segoe UI"/>
                <a:cs typeface="Segoe UI"/>
              </a:rPr>
              <a:t>WORKING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262872" y="4617720"/>
            <a:ext cx="1737360" cy="128016"/>
          </a:xfrm>
          <a:prstGeom prst="roundRect">
            <a:avLst>
              <a:gd name="adj" fmla="val 50000"/>
            </a:avLst>
          </a:prstGeom>
          <a:solidFill>
            <a:srgbClr val="1A25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9262872" y="4617720"/>
            <a:ext cx="521207" cy="128016"/>
          </a:xfrm>
          <a:prstGeom prst="roundRect">
            <a:avLst>
              <a:gd name="adj" fmla="val 50000"/>
            </a:avLst>
          </a:prstGeom>
          <a:solidFill>
            <a:srgbClr val="5B7C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964423" y="4956048"/>
            <a:ext cx="12344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1">
                <a:solidFill>
                  <a:srgbClr val="5F6E8C"/>
                </a:solidFill>
                <a:latin typeface="Segoe UI"/>
                <a:ea typeface="Segoe UI"/>
                <a:cs typeface="Segoe UI"/>
              </a:rPr>
              <a:t>BACKGROUND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262872" y="5001768"/>
            <a:ext cx="1737360" cy="128016"/>
          </a:xfrm>
          <a:prstGeom prst="roundRect">
            <a:avLst>
              <a:gd name="adj" fmla="val 50000"/>
            </a:avLst>
          </a:prstGeom>
          <a:solidFill>
            <a:srgbClr val="1A25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9262872" y="5001768"/>
            <a:ext cx="347472" cy="128016"/>
          </a:xfrm>
          <a:prstGeom prst="roundRect">
            <a:avLst>
              <a:gd name="adj" fmla="val 50000"/>
            </a:avLst>
          </a:prstGeom>
          <a:solidFill>
            <a:srgbClr val="5F6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964423" y="5330952"/>
            <a:ext cx="32918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5F6E8C"/>
                </a:solidFill>
                <a:latin typeface="Microsoft YaHei"/>
                <a:ea typeface="Microsoft YaHei"/>
                <a:cs typeface="Microsoft YaHei"/>
              </a:rPr>
              <a:t>band 内按分数保留，active 行优先。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6928" y="6446520"/>
            <a:ext cx="7772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5F6E8C"/>
                </a:solidFill>
                <a:latin typeface="Segoe UI"/>
                <a:ea typeface="Segoe UI"/>
                <a:cs typeface="Segoe UI"/>
              </a:rPr>
              <a:t>dsh-holo-memory  ·  DeepSeek Harness memory plugin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881360" y="641908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93A1BF"/>
                </a:solidFill>
                <a:latin typeface="Segoe UI"/>
                <a:ea typeface="Segoe UI"/>
                <a:cs typeface="Segoe UI"/>
              </a:rPr>
              <a:t>04 / 11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-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38404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5B7CFA"/>
                </a:solidFill>
                <a:latin typeface="Segoe UI"/>
                <a:ea typeface="Segoe UI"/>
                <a:cs typeface="Segoe UI"/>
              </a:rPr>
              <a:t>PLUGIN / VISIBLE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85216" y="640080"/>
            <a:ext cx="310896" cy="32004"/>
          </a:xfrm>
          <a:prstGeom prst="roundRect">
            <a:avLst>
              <a:gd name="adj" fmla="val 0"/>
            </a:avLst>
          </a:prstGeom>
          <a:solidFill>
            <a:srgbClr val="5B7C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900" b="1">
                <a:solidFill>
                  <a:srgbClr val="EEF3FF"/>
                </a:solidFill>
                <a:latin typeface="Microsoft YaHei"/>
                <a:ea typeface="Microsoft YaHei"/>
                <a:cs typeface="Microsoft YaHei"/>
              </a:rPr>
              <a:t>看得见的记忆：页面 + 工作步骤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216" y="146304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2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侧边栏一级入口进入控制台；每次召回在聊天工作步骤里留一行，点开看正文与命中 id。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3776" y="1773936"/>
            <a:ext cx="5266944" cy="3739896"/>
          </a:xfrm>
          <a:prstGeom prst="roundRect">
            <a:avLst>
              <a:gd name="adj" fmla="val 4000"/>
            </a:avLst>
          </a:prstGeom>
          <a:solidFill>
            <a:srgbClr val="0B1324"/>
          </a:solidFill>
          <a:ln w="10160">
            <a:solidFill>
              <a:srgbClr val="2332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console-cr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847088"/>
            <a:ext cx="5120640" cy="359359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596128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3AD6E8"/>
                </a:solidFill>
                <a:latin typeface="Segoe UI"/>
                <a:ea typeface="Segoe UI"/>
                <a:cs typeface="Segoe UI"/>
              </a:rPr>
              <a:t>01  全息记忆控制台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5870448"/>
            <a:ext cx="5669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19" b="0">
                <a:solidFill>
                  <a:srgbClr val="5F6E8C"/>
                </a:solidFill>
                <a:latin typeface="Microsoft YaHei"/>
                <a:ea typeface="Microsoft YaHei"/>
                <a:cs typeface="Microsoft YaHei"/>
              </a:rPr>
              <a:t>统计 · 模型配置 · 检测/保存 · 搜索筛选 · 召回审计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81928" y="1801367"/>
            <a:ext cx="4352544" cy="3694176"/>
          </a:xfrm>
          <a:prstGeom prst="roundRect">
            <a:avLst>
              <a:gd name="adj" fmla="val 4000"/>
            </a:avLst>
          </a:prstGeom>
          <a:solidFill>
            <a:srgbClr val="0B1324"/>
          </a:solidFill>
          <a:ln w="10160">
            <a:solidFill>
              <a:srgbClr val="2332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recall-st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5080" y="1874519"/>
            <a:ext cx="4206240" cy="354787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355080" y="5596128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4ADE80"/>
                </a:solidFill>
                <a:latin typeface="Segoe UI"/>
                <a:ea typeface="Segoe UI"/>
                <a:cs typeface="Segoe UI"/>
              </a:rPr>
              <a:t>02  工作步骤里的召回行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5080" y="5870448"/>
            <a:ext cx="4892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19" b="0">
                <a:solidFill>
                  <a:srgbClr val="5F6E8C"/>
                </a:solidFill>
                <a:latin typeface="Microsoft YaHei"/>
                <a:ea typeface="Microsoft YaHei"/>
                <a:cs typeface="Microsoft YaHei"/>
              </a:rPr>
              <a:t>[长期记忆自动召回 | holo-memory]  ·  展开看问题/正文/id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6446520"/>
            <a:ext cx="7772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5F6E8C"/>
                </a:solidFill>
                <a:latin typeface="Segoe UI"/>
                <a:ea typeface="Segoe UI"/>
                <a:cs typeface="Segoe UI"/>
              </a:rPr>
              <a:t>dsh-holo-memory  ·  DeepSeek Harness memory plugin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81360" y="641908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93A1BF"/>
                </a:solidFill>
                <a:latin typeface="Segoe UI"/>
                <a:ea typeface="Segoe UI"/>
                <a:cs typeface="Segoe UI"/>
              </a:rPr>
              <a:t>05 / 11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-s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30352" y="1234440"/>
            <a:ext cx="2743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0" b="1">
                <a:solidFill>
                  <a:srgbClr val="182746"/>
                </a:solidFill>
                <a:latin typeface="Segoe UI"/>
                <a:ea typeface="Segoe UI"/>
                <a:cs typeface="Segoe UI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965960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4ADE80"/>
                </a:solidFill>
                <a:latin typeface="Segoe UI"/>
                <a:ea typeface="Segoe UI"/>
                <a:cs typeface="Segoe UI"/>
              </a:rPr>
              <a:t>PART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3504" y="2331720"/>
            <a:ext cx="54864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800" b="1">
                <a:solidFill>
                  <a:srgbClr val="EEF3FF"/>
                </a:solidFill>
                <a:latin typeface="Microsoft YaHei"/>
                <a:ea typeface="Microsoft YaHei"/>
                <a:cs typeface="Microsoft YaHei"/>
              </a:rPr>
              <a:t>安装方式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182112"/>
            <a:ext cx="5852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50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从源码到可用：构建、安装、重启、验证。</a:t>
            </a:r>
          </a:p>
        </p:txBody>
      </p:sp>
      <p:sp>
        <p:nvSpPr>
          <p:cNvPr id="7" name="Oval 6"/>
          <p:cNvSpPr/>
          <p:nvPr/>
        </p:nvSpPr>
        <p:spPr>
          <a:xfrm>
            <a:off x="676656" y="4069080"/>
            <a:ext cx="310896" cy="310896"/>
          </a:xfrm>
          <a:prstGeom prst="ellipse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080C18"/>
                </a:solidFill>
                <a:latin typeface="Segoe UI"/>
                <a:ea typeface="Segoe UI"/>
                <a:cs typeface="Segoe U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4041648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EEF3FF"/>
                </a:solidFill>
                <a:latin typeface="Microsoft YaHei"/>
                <a:ea typeface="Microsoft YaHei"/>
                <a:cs typeface="Microsoft YaHei"/>
              </a:rPr>
              <a:t>准备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0" y="402336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DSH Desktop 0.2.1-rc.1+ · Node ≥ 22.19</a:t>
            </a:r>
          </a:p>
        </p:txBody>
      </p:sp>
      <p:sp>
        <p:nvSpPr>
          <p:cNvPr id="10" name="Oval 9"/>
          <p:cNvSpPr/>
          <p:nvPr/>
        </p:nvSpPr>
        <p:spPr>
          <a:xfrm>
            <a:off x="676656" y="4636008"/>
            <a:ext cx="310896" cy="310896"/>
          </a:xfrm>
          <a:prstGeom prst="ellipse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080C18"/>
                </a:solidFill>
                <a:latin typeface="Segoe UI"/>
                <a:ea typeface="Segoe UI"/>
                <a:cs typeface="Segoe U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" y="4608576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EEF3FF"/>
                </a:solidFill>
                <a:latin typeface="Microsoft YaHei"/>
                <a:ea typeface="Microsoft YaHei"/>
                <a:cs typeface="Microsoft YaHei"/>
              </a:rPr>
              <a:t>安装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26080" y="4590288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设置 → 插件 → 添加插件 → 本地目录</a:t>
            </a:r>
          </a:p>
        </p:txBody>
      </p:sp>
      <p:sp>
        <p:nvSpPr>
          <p:cNvPr id="13" name="Oval 12"/>
          <p:cNvSpPr/>
          <p:nvPr/>
        </p:nvSpPr>
        <p:spPr>
          <a:xfrm>
            <a:off x="676656" y="5202936"/>
            <a:ext cx="310896" cy="310896"/>
          </a:xfrm>
          <a:prstGeom prst="ellipse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080C18"/>
                </a:solidFill>
                <a:latin typeface="Segoe UI"/>
                <a:ea typeface="Segoe UI"/>
                <a:cs typeface="Segoe U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" y="5175504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EEF3FF"/>
                </a:solidFill>
                <a:latin typeface="Microsoft YaHei"/>
                <a:ea typeface="Microsoft YaHei"/>
                <a:cs typeface="Microsoft YaHei"/>
              </a:rPr>
              <a:t>配置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26080" y="5157216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可选向量模型；不配也能用词法召回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6446520"/>
            <a:ext cx="7772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5F6E8C"/>
                </a:solidFill>
                <a:latin typeface="Segoe UI"/>
                <a:ea typeface="Segoe UI"/>
                <a:cs typeface="Segoe UI"/>
              </a:rPr>
              <a:t>dsh-holo-memory  ·  DeepSeek Harness memory plugin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81360" y="641908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93A1BF"/>
                </a:solidFill>
                <a:latin typeface="Segoe UI"/>
                <a:ea typeface="Segoe UI"/>
                <a:cs typeface="Segoe UI"/>
              </a:rPr>
              <a:t>06 / 11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-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38404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5B7CFA"/>
                </a:solidFill>
                <a:latin typeface="Segoe UI"/>
                <a:ea typeface="Segoe UI"/>
                <a:cs typeface="Segoe UI"/>
              </a:rPr>
              <a:t>INSTALL / 4 STEPS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85216" y="640080"/>
            <a:ext cx="310896" cy="32004"/>
          </a:xfrm>
          <a:prstGeom prst="roundRect">
            <a:avLst>
              <a:gd name="adj" fmla="val 0"/>
            </a:avLst>
          </a:prstGeom>
          <a:solidFill>
            <a:srgbClr val="5B7C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900" b="1">
                <a:solidFill>
                  <a:srgbClr val="EEF3FF"/>
                </a:solidFill>
                <a:latin typeface="Microsoft YaHei"/>
                <a:ea typeface="Microsoft YaHei"/>
                <a:cs typeface="Microsoft YaHei"/>
              </a:rPr>
              <a:t>安装：四步，最后一定要重启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572768"/>
            <a:ext cx="7360920" cy="841248"/>
          </a:xfrm>
          <a:prstGeom prst="roundRect">
            <a:avLst>
              <a:gd name="adj" fmla="val 8000"/>
            </a:avLst>
          </a:prstGeom>
          <a:solidFill>
            <a:srgbClr val="0E1729"/>
          </a:solidFill>
          <a:ln w="10160">
            <a:solidFill>
              <a:srgbClr val="2332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86384" y="1764792"/>
            <a:ext cx="420624" cy="420624"/>
          </a:xfrm>
          <a:prstGeom prst="ellipse">
            <a:avLst/>
          </a:prstGeom>
          <a:solidFill>
            <a:srgbClr val="3AD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070A14"/>
                </a:solidFill>
                <a:latin typeface="Segoe UI"/>
                <a:ea typeface="Segoe UI"/>
                <a:cs typeface="Segoe UI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53312" y="1682495"/>
            <a:ext cx="1645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50" b="1">
                <a:solidFill>
                  <a:srgbClr val="EEF3FF"/>
                </a:solidFill>
                <a:latin typeface="Microsoft YaHei"/>
                <a:ea typeface="Microsoft YaHei"/>
                <a:cs typeface="Microsoft YaHei"/>
              </a:rPr>
              <a:t>准备环境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53312" y="2029967"/>
            <a:ext cx="6126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8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DSH Desktop 0.2.1-rc.1+；Node.js ≥ 22.19；不需要 Python/数据库。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578608"/>
            <a:ext cx="7360920" cy="841248"/>
          </a:xfrm>
          <a:prstGeom prst="roundRect">
            <a:avLst>
              <a:gd name="adj" fmla="val 8000"/>
            </a:avLst>
          </a:prstGeom>
          <a:solidFill>
            <a:srgbClr val="0E1729"/>
          </a:solidFill>
          <a:ln w="10160">
            <a:solidFill>
              <a:srgbClr val="2332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86384" y="2770632"/>
            <a:ext cx="420624" cy="420624"/>
          </a:xfrm>
          <a:prstGeom prst="ellipse">
            <a:avLst/>
          </a:prstGeom>
          <a:solidFill>
            <a:srgbClr val="5B7C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070A14"/>
                </a:solidFill>
                <a:latin typeface="Segoe UI"/>
                <a:ea typeface="Segoe UI"/>
                <a:cs typeface="Segoe UI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3312" y="2688336"/>
            <a:ext cx="1645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50" b="1">
                <a:solidFill>
                  <a:srgbClr val="EEF3FF"/>
                </a:solidFill>
                <a:latin typeface="Microsoft YaHei"/>
                <a:ea typeface="Microsoft YaHei"/>
                <a:cs typeface="Microsoft YaHei"/>
              </a:rPr>
              <a:t>构建插件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53312" y="3035808"/>
            <a:ext cx="6126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8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npm install  →  npm run build  →  npm test（可选）。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584448"/>
            <a:ext cx="7360920" cy="841248"/>
          </a:xfrm>
          <a:prstGeom prst="roundRect">
            <a:avLst>
              <a:gd name="adj" fmla="val 8000"/>
            </a:avLst>
          </a:prstGeom>
          <a:solidFill>
            <a:srgbClr val="0E1729"/>
          </a:solidFill>
          <a:ln w="10160">
            <a:solidFill>
              <a:srgbClr val="2332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86384" y="3776472"/>
            <a:ext cx="420624" cy="420624"/>
          </a:xfrm>
          <a:prstGeom prst="ellipse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070A14"/>
                </a:solidFill>
                <a:latin typeface="Segoe UI"/>
                <a:ea typeface="Segoe UI"/>
                <a:cs typeface="Segoe UI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53312" y="3694176"/>
            <a:ext cx="1645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50" b="1">
                <a:solidFill>
                  <a:srgbClr val="EEF3FF"/>
                </a:solidFill>
                <a:latin typeface="Microsoft YaHei"/>
                <a:ea typeface="Microsoft YaHei"/>
                <a:cs typeface="Microsoft YaHei"/>
              </a:rPr>
              <a:t>安装目录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53312" y="4041648"/>
            <a:ext cx="6126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8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设置 → 插件 → 添加插件 → 填本地目录，或 web profile 用 dsh plugin add link。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590288"/>
            <a:ext cx="7360920" cy="841248"/>
          </a:xfrm>
          <a:prstGeom prst="roundRect">
            <a:avLst>
              <a:gd name="adj" fmla="val 8000"/>
            </a:avLst>
          </a:prstGeom>
          <a:solidFill>
            <a:srgbClr val="0E1729"/>
          </a:solidFill>
          <a:ln w="10160">
            <a:solidFill>
              <a:srgbClr val="2332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86384" y="4782312"/>
            <a:ext cx="420624" cy="420624"/>
          </a:xfrm>
          <a:prstGeom prst="ellipse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070A14"/>
                </a:solidFill>
                <a:latin typeface="Segoe UI"/>
                <a:ea typeface="Segoe UI"/>
                <a:cs typeface="Segoe UI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53312" y="4700016"/>
            <a:ext cx="1645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50" b="1">
                <a:solidFill>
                  <a:srgbClr val="EEF3FF"/>
                </a:solidFill>
                <a:latin typeface="Microsoft YaHei"/>
                <a:ea typeface="Microsoft YaHei"/>
                <a:cs typeface="Microsoft YaHei"/>
              </a:rPr>
              <a:t>重启验证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53312" y="5047488"/>
            <a:ext cx="6126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8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完全退出并重启 DSH；新会话问一个只有记忆知道的问题。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0" y="1572768"/>
            <a:ext cx="3383280" cy="4160520"/>
          </a:xfrm>
          <a:prstGeom prst="roundRect">
            <a:avLst>
              <a:gd name="adj" fmla="val 8000"/>
            </a:avLst>
          </a:prstGeom>
          <a:solidFill>
            <a:srgbClr val="0B1324"/>
          </a:solidFill>
          <a:ln w="10160">
            <a:solidFill>
              <a:srgbClr val="2332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49056" y="1755648"/>
            <a:ext cx="20116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1">
                <a:solidFill>
                  <a:srgbClr val="5F6E8C"/>
                </a:solidFill>
                <a:latin typeface="Segoe UI"/>
                <a:ea typeface="Segoe UI"/>
                <a:cs typeface="Segoe UI"/>
              </a:rPr>
              <a:t>LOCAL BUILD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49056" y="2084832"/>
            <a:ext cx="2971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19" b="0">
                <a:solidFill>
                  <a:srgbClr val="EEF3FF"/>
                </a:solidFill>
                <a:latin typeface="Consolas"/>
                <a:ea typeface="Consolas"/>
                <a:cs typeface="Consolas"/>
              </a:rPr>
              <a:t>cd dsh-holo-memory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49056" y="2377440"/>
            <a:ext cx="2971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19" b="0">
                <a:solidFill>
                  <a:srgbClr val="EEF3FF"/>
                </a:solidFill>
                <a:latin typeface="Consolas"/>
                <a:ea typeface="Consolas"/>
                <a:cs typeface="Consolas"/>
              </a:rPr>
              <a:t>npm install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49056" y="2670048"/>
            <a:ext cx="2971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19" b="0">
                <a:solidFill>
                  <a:srgbClr val="EEF3FF"/>
                </a:solidFill>
                <a:latin typeface="Consolas"/>
                <a:ea typeface="Consolas"/>
                <a:cs typeface="Consolas"/>
              </a:rPr>
              <a:t>npm run build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49056" y="2962656"/>
            <a:ext cx="2971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19" b="0">
                <a:solidFill>
                  <a:srgbClr val="EEF3FF"/>
                </a:solidFill>
                <a:latin typeface="Consolas"/>
                <a:ea typeface="Consolas"/>
                <a:cs typeface="Consolas"/>
              </a:rPr>
              <a:t>npm test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49056" y="3493008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1">
                <a:solidFill>
                  <a:srgbClr val="5F6E8C"/>
                </a:solidFill>
                <a:latin typeface="Segoe UI"/>
                <a:ea typeface="Segoe UI"/>
                <a:cs typeface="Segoe UI"/>
              </a:rPr>
              <a:t>DATA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49056" y="3785615"/>
            <a:ext cx="2971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80" b="0">
                <a:solidFill>
                  <a:srgbClr val="3AD6E8"/>
                </a:solidFill>
                <a:latin typeface="Consolas"/>
                <a:ea typeface="Consolas"/>
                <a:cs typeface="Consolas"/>
              </a:rPr>
              <a:t>$DSH_HOME/holo-memory/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49056" y="4059936"/>
            <a:ext cx="2971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80" b="0">
                <a:solidFill>
                  <a:srgbClr val="93A1BF"/>
                </a:solidFill>
                <a:latin typeface="Consolas"/>
                <a:ea typeface="Consolas"/>
                <a:cs typeface="Consolas"/>
              </a:rPr>
              <a:t>l1.json / l2.json / l3.json / embedding.key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49056" y="4544568"/>
            <a:ext cx="10058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1">
                <a:solidFill>
                  <a:srgbClr val="5F6E8C"/>
                </a:solidFill>
                <a:latin typeface="Segoe UI"/>
                <a:ea typeface="Segoe UI"/>
                <a:cs typeface="Segoe UI"/>
              </a:rPr>
              <a:t>DESKTOP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49056" y="4846320"/>
            <a:ext cx="2926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19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desktop profile 由 Electron 管理；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49056" y="5102352"/>
            <a:ext cx="29260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19" b="0">
                <a:solidFill>
                  <a:srgbClr val="F5B84C"/>
                </a:solidFill>
                <a:latin typeface="Microsoft YaHei"/>
                <a:ea typeface="Microsoft YaHei"/>
                <a:cs typeface="Microsoft YaHei"/>
              </a:rPr>
              <a:t>用设置页安装，不要用 CLI 改 desktop profile。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85216" y="580644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20" b="0">
                <a:solidFill>
                  <a:srgbClr val="F5B84C"/>
                </a:solidFill>
                <a:latin typeface="Microsoft YaHei"/>
                <a:ea typeface="Microsoft YaHei"/>
                <a:cs typeface="Microsoft YaHei"/>
              </a:rPr>
              <a:t>装完 / 更新后：client 半在启动时加载，刷新页面不够，必须重启 DSH。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" y="6446520"/>
            <a:ext cx="7772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5F6E8C"/>
                </a:solidFill>
                <a:latin typeface="Segoe UI"/>
                <a:ea typeface="Segoe UI"/>
                <a:cs typeface="Segoe UI"/>
              </a:rPr>
              <a:t>dsh-holo-memory  ·  DeepSeek Harness memory plugin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881360" y="641908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93A1BF"/>
                </a:solidFill>
                <a:latin typeface="Segoe UI"/>
                <a:ea typeface="Segoe UI"/>
                <a:cs typeface="Segoe UI"/>
              </a:rPr>
              <a:t>07 / 11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-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38404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5B7CFA"/>
                </a:solidFill>
                <a:latin typeface="Segoe UI"/>
                <a:ea typeface="Segoe UI"/>
                <a:cs typeface="Segoe UI"/>
              </a:rPr>
              <a:t>INSTALL / OPTIONAL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85216" y="640080"/>
            <a:ext cx="310896" cy="32004"/>
          </a:xfrm>
          <a:prstGeom prst="roundRect">
            <a:avLst>
              <a:gd name="adj" fmla="val 0"/>
            </a:avLst>
          </a:prstGeom>
          <a:solidFill>
            <a:srgbClr val="5B7C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900" b="1">
                <a:solidFill>
                  <a:srgbClr val="EEF3FF"/>
                </a:solidFill>
                <a:latin typeface="Microsoft YaHei"/>
                <a:ea typeface="Microsoft YaHei"/>
                <a:cs typeface="Microsoft YaHei"/>
              </a:rPr>
              <a:t>配置向量模型（可选，不配也能用）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554480"/>
            <a:ext cx="5806440" cy="4343400"/>
          </a:xfrm>
          <a:prstGeom prst="roundRect">
            <a:avLst>
              <a:gd name="adj" fmla="val 8000"/>
            </a:avLst>
          </a:prstGeom>
          <a:solidFill>
            <a:srgbClr val="0E1729"/>
          </a:solidFill>
          <a:ln w="10160">
            <a:solidFill>
              <a:srgbClr val="2332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737360"/>
            <a:ext cx="52120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>
                <a:solidFill>
                  <a:srgbClr val="3AD6E8"/>
                </a:solidFill>
                <a:latin typeface="Microsoft YaHei"/>
                <a:ea typeface="Microsoft YaHei"/>
                <a:cs typeface="Microsoft YaHei"/>
              </a:rPr>
              <a:t>侧边栏 → 全息记忆 → 向量模型配置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176272"/>
            <a:ext cx="16459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5F6E8C"/>
                </a:solidFill>
                <a:latin typeface="Microsoft YaHei"/>
                <a:ea typeface="Microsoft YaHei"/>
                <a:cs typeface="Microsoft YaHei"/>
              </a:rPr>
              <a:t>供应商 / 接口地址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514600" y="2130552"/>
            <a:ext cx="3611880" cy="384048"/>
          </a:xfrm>
          <a:prstGeom prst="roundRect">
            <a:avLst>
              <a:gd name="adj" fmla="val 6000"/>
            </a:avLst>
          </a:prstGeom>
          <a:solidFill>
            <a:srgbClr val="0B1324"/>
          </a:solidFill>
          <a:ln w="10160">
            <a:solidFill>
              <a:srgbClr val="2332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70048" y="2194560"/>
            <a:ext cx="32918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19" b="0">
                <a:solidFill>
                  <a:srgbClr val="3AD6E8"/>
                </a:solidFill>
                <a:latin typeface="Consolas"/>
                <a:ea typeface="Consolas"/>
                <a:cs typeface="Consolas"/>
              </a:rPr>
              <a:t>https://api.siliconflow.cn/v1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2889504"/>
            <a:ext cx="16459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5F6E8C"/>
                </a:solidFill>
                <a:latin typeface="Microsoft YaHei"/>
                <a:ea typeface="Microsoft YaHei"/>
                <a:cs typeface="Microsoft YaHei"/>
              </a:rPr>
              <a:t>模型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514600" y="2843784"/>
            <a:ext cx="3611880" cy="384048"/>
          </a:xfrm>
          <a:prstGeom prst="roundRect">
            <a:avLst>
              <a:gd name="adj" fmla="val 6000"/>
            </a:avLst>
          </a:prstGeom>
          <a:solidFill>
            <a:srgbClr val="0B1324"/>
          </a:solidFill>
          <a:ln w="10160">
            <a:solidFill>
              <a:srgbClr val="2332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670048" y="2907792"/>
            <a:ext cx="32918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19" b="0">
                <a:solidFill>
                  <a:srgbClr val="5B7CFA"/>
                </a:solidFill>
                <a:latin typeface="Consolas"/>
                <a:ea typeface="Consolas"/>
                <a:cs typeface="Consolas"/>
              </a:rPr>
              <a:t>Qwen/Qwen3-Embedding-8B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" y="3602736"/>
            <a:ext cx="16459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5F6E8C"/>
                </a:solidFill>
                <a:latin typeface="Microsoft YaHei"/>
                <a:ea typeface="Microsoft YaHei"/>
                <a:cs typeface="Microsoft YaHei"/>
              </a:rPr>
              <a:t>API Key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514600" y="3557016"/>
            <a:ext cx="3611880" cy="384048"/>
          </a:xfrm>
          <a:prstGeom prst="roundRect">
            <a:avLst>
              <a:gd name="adj" fmla="val 6000"/>
            </a:avLst>
          </a:prstGeom>
          <a:solidFill>
            <a:srgbClr val="0B1324"/>
          </a:solidFill>
          <a:ln w="10160">
            <a:solidFill>
              <a:srgbClr val="2332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670048" y="3621024"/>
            <a:ext cx="32918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19" b="0">
                <a:solidFill>
                  <a:srgbClr val="A78BFA"/>
                </a:solidFill>
                <a:latin typeface="Consolas"/>
                <a:ea typeface="Consolas"/>
                <a:cs typeface="Consolas"/>
              </a:rPr>
              <a:t>已保存；留空保持不变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" y="4315968"/>
            <a:ext cx="16459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5F6E8C"/>
                </a:solidFill>
                <a:latin typeface="Microsoft YaHei"/>
                <a:ea typeface="Microsoft YaHei"/>
                <a:cs typeface="Microsoft YaHei"/>
              </a:rPr>
              <a:t>维度（可选）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514600" y="4270248"/>
            <a:ext cx="3611880" cy="384048"/>
          </a:xfrm>
          <a:prstGeom prst="roundRect">
            <a:avLst>
              <a:gd name="adj" fmla="val 6000"/>
            </a:avLst>
          </a:prstGeom>
          <a:solidFill>
            <a:srgbClr val="0B1324"/>
          </a:solidFill>
          <a:ln w="10160">
            <a:solidFill>
              <a:srgbClr val="2332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670048" y="4334255"/>
            <a:ext cx="32918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19" b="0">
                <a:solidFill>
                  <a:srgbClr val="4ADE80"/>
                </a:solidFill>
                <a:latin typeface="Consolas"/>
                <a:ea typeface="Consolas"/>
                <a:cs typeface="Consolas"/>
              </a:rPr>
              <a:t>0 = 用模型默认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5138928"/>
            <a:ext cx="5303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① 检测可用性：请求一次 /embeddings，判断是否向量模型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" y="5431536"/>
            <a:ext cx="5303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② 保存配置：写 embedding.json + embedding.key，立即生效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" y="5705856"/>
            <a:ext cx="53035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5F6E8C"/>
                </a:solidFill>
                <a:latin typeface="Microsoft YaHei"/>
                <a:ea typeface="Microsoft YaHei"/>
                <a:cs typeface="Microsoft YaHei"/>
              </a:rPr>
              <a:t>已有记录会在后台按新模型重新回填向量。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720840" y="1554480"/>
            <a:ext cx="4892040" cy="1920240"/>
          </a:xfrm>
          <a:prstGeom prst="roundRect">
            <a:avLst>
              <a:gd name="adj" fmla="val 8000"/>
            </a:avLst>
          </a:prstGeom>
          <a:solidFill>
            <a:srgbClr val="0B1324"/>
          </a:solidFill>
          <a:ln w="10160">
            <a:solidFill>
              <a:srgbClr val="2332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976872" y="1737360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>
                <a:solidFill>
                  <a:srgbClr val="4ADE80"/>
                </a:solidFill>
                <a:latin typeface="Microsoft YaHei"/>
                <a:ea typeface="Microsoft YaHei"/>
                <a:cs typeface="Microsoft YaHei"/>
              </a:rPr>
              <a:t>不配向量模型？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76872" y="2084831"/>
            <a:ext cx="4343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8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词法 + 字符 n-gram 仍然可用；只是少了语义召回通道。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76872" y="2788920"/>
            <a:ext cx="4343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80" b="0">
                <a:solidFill>
                  <a:srgbClr val="F5B84C"/>
                </a:solidFill>
                <a:latin typeface="Microsoft YaHei"/>
                <a:ea typeface="Microsoft YaHei"/>
                <a:cs typeface="Microsoft YaHei"/>
              </a:rPr>
              <a:t>API Key 不进 YAML、不进 GET 响应。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720840" y="3657600"/>
            <a:ext cx="4892040" cy="1645920"/>
          </a:xfrm>
          <a:prstGeom prst="roundRect">
            <a:avLst>
              <a:gd name="adj" fmla="val 8000"/>
            </a:avLst>
          </a:prstGeom>
          <a:solidFill>
            <a:srgbClr val="0B1324"/>
          </a:solidFill>
          <a:ln w="10160">
            <a:solidFill>
              <a:srgbClr val="2332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976872" y="38404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>
                <a:solidFill>
                  <a:srgbClr val="3AD6E8"/>
                </a:solidFill>
                <a:latin typeface="Microsoft YaHei"/>
                <a:ea typeface="Microsoft YaHei"/>
                <a:cs typeface="Microsoft YaHei"/>
              </a:rPr>
              <a:t>支持的端点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76872" y="4187952"/>
            <a:ext cx="4343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SiliconFlow · OpenAI · 本地 Ollama · 火山方舟 · 任意 OpenAI 兼容 /embeddings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76872" y="4937760"/>
            <a:ext cx="4343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5F6E8C"/>
                </a:solidFill>
                <a:latin typeface="Microsoft YaHei"/>
                <a:ea typeface="Microsoft YaHei"/>
                <a:cs typeface="Microsoft YaHei"/>
              </a:rPr>
              <a:t>换模型 / 换维度后，旧向量会按 embeddingModel 自动失效并回填。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6446520"/>
            <a:ext cx="7772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5F6E8C"/>
                </a:solidFill>
                <a:latin typeface="Segoe UI"/>
                <a:ea typeface="Segoe UI"/>
                <a:cs typeface="Segoe UI"/>
              </a:rPr>
              <a:t>dsh-holo-memory  ·  DeepSeek Harness memory plugin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881360" y="641908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93A1BF"/>
                </a:solidFill>
                <a:latin typeface="Segoe UI"/>
                <a:ea typeface="Segoe UI"/>
                <a:cs typeface="Segoe UI"/>
              </a:rPr>
              <a:t>08 / 11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-s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30352" y="1234440"/>
            <a:ext cx="2743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0" b="1">
                <a:solidFill>
                  <a:srgbClr val="182746"/>
                </a:solidFill>
                <a:latin typeface="Segoe UI"/>
                <a:ea typeface="Segoe UI"/>
                <a:cs typeface="Segoe UI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965960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F5B84C"/>
                </a:solidFill>
                <a:latin typeface="Segoe UI"/>
                <a:ea typeface="Segoe UI"/>
                <a:cs typeface="Segoe UI"/>
              </a:rPr>
              <a:t>PART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3504" y="2331720"/>
            <a:ext cx="54864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800" b="1">
                <a:solidFill>
                  <a:srgbClr val="EEF3FF"/>
                </a:solidFill>
                <a:latin typeface="Microsoft YaHei"/>
                <a:ea typeface="Microsoft YaHei"/>
                <a:cs typeface="Microsoft YaHei"/>
              </a:rPr>
              <a:t>注意事项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182112"/>
            <a:ext cx="5852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50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安全、token、兼容性，以及上线前最容易忽略的细节。</a:t>
            </a:r>
          </a:p>
        </p:txBody>
      </p:sp>
      <p:sp>
        <p:nvSpPr>
          <p:cNvPr id="7" name="Oval 6"/>
          <p:cNvSpPr/>
          <p:nvPr/>
        </p:nvSpPr>
        <p:spPr>
          <a:xfrm>
            <a:off x="676656" y="4069080"/>
            <a:ext cx="310896" cy="310896"/>
          </a:xfrm>
          <a:prstGeom prst="ellipse">
            <a:avLst/>
          </a:prstGeom>
          <a:solidFill>
            <a:srgbClr val="F5B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080C18"/>
                </a:solidFill>
                <a:latin typeface="Segoe UI"/>
                <a:ea typeface="Segoe UI"/>
                <a:cs typeface="Segoe U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4041648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EEF3FF"/>
                </a:solidFill>
                <a:latin typeface="Microsoft YaHei"/>
                <a:ea typeface="Microsoft YaHei"/>
                <a:cs typeface="Microsoft YaHei"/>
              </a:rPr>
              <a:t>密钥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0" y="402336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单独文件 0600；不进仓库、不进日志</a:t>
            </a:r>
          </a:p>
        </p:txBody>
      </p:sp>
      <p:sp>
        <p:nvSpPr>
          <p:cNvPr id="10" name="Oval 9"/>
          <p:cNvSpPr/>
          <p:nvPr/>
        </p:nvSpPr>
        <p:spPr>
          <a:xfrm>
            <a:off x="676656" y="4636008"/>
            <a:ext cx="310896" cy="310896"/>
          </a:xfrm>
          <a:prstGeom prst="ellipse">
            <a:avLst/>
          </a:prstGeom>
          <a:solidFill>
            <a:srgbClr val="F5B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080C18"/>
                </a:solidFill>
                <a:latin typeface="Segoe UI"/>
                <a:ea typeface="Segoe UI"/>
                <a:cs typeface="Segoe U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" y="4608576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EEF3FF"/>
                </a:solidFill>
                <a:latin typeface="Microsoft YaHei"/>
                <a:ea typeface="Microsoft YaHei"/>
                <a:cs typeface="Microsoft YaHei"/>
              </a:rPr>
              <a:t>隐私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26080" y="4590288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记忆是本地明文；embedding 会发查询文本</a:t>
            </a:r>
          </a:p>
        </p:txBody>
      </p:sp>
      <p:sp>
        <p:nvSpPr>
          <p:cNvPr id="13" name="Oval 12"/>
          <p:cNvSpPr/>
          <p:nvPr/>
        </p:nvSpPr>
        <p:spPr>
          <a:xfrm>
            <a:off x="676656" y="5202936"/>
            <a:ext cx="310896" cy="310896"/>
          </a:xfrm>
          <a:prstGeom prst="ellipse">
            <a:avLst/>
          </a:prstGeom>
          <a:solidFill>
            <a:srgbClr val="F5B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080C18"/>
                </a:solidFill>
                <a:latin typeface="Segoe UI"/>
                <a:ea typeface="Segoe UI"/>
                <a:cs typeface="Segoe U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" y="5175504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EEF3FF"/>
                </a:solidFill>
                <a:latin typeface="Microsoft YaHei"/>
                <a:ea typeface="Microsoft YaHei"/>
                <a:cs typeface="Microsoft YaHei"/>
              </a:rPr>
              <a:t>兼容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26080" y="5157216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DSH 0.2.x；更新后必须重启 client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6446520"/>
            <a:ext cx="7772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5F6E8C"/>
                </a:solidFill>
                <a:latin typeface="Segoe UI"/>
                <a:ea typeface="Segoe UI"/>
                <a:cs typeface="Segoe UI"/>
              </a:rPr>
              <a:t>dsh-holo-memory  ·  DeepSeek Harness memory plugin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81360" y="641908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93A1BF"/>
                </a:solidFill>
                <a:latin typeface="Segoe UI"/>
                <a:ea typeface="Segoe UI"/>
                <a:cs typeface="Segoe UI"/>
              </a:rPr>
              <a:t>09 / 11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-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38404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5B7CFA"/>
                </a:solidFill>
                <a:latin typeface="Segoe UI"/>
                <a:ea typeface="Segoe UI"/>
                <a:cs typeface="Segoe UI"/>
              </a:rPr>
              <a:t>NOTES / BEFORE YOU SHIP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85216" y="640080"/>
            <a:ext cx="310896" cy="32004"/>
          </a:xfrm>
          <a:prstGeom prst="roundRect">
            <a:avLst>
              <a:gd name="adj" fmla="val 0"/>
            </a:avLst>
          </a:prstGeom>
          <a:solidFill>
            <a:srgbClr val="5B7C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900" b="1">
                <a:solidFill>
                  <a:srgbClr val="EEF3FF"/>
                </a:solidFill>
                <a:latin typeface="Microsoft YaHei"/>
                <a:ea typeface="Microsoft YaHei"/>
                <a:cs typeface="Microsoft YaHei"/>
              </a:rPr>
              <a:t>六条底线，先看再装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572768"/>
            <a:ext cx="3529584" cy="1572768"/>
          </a:xfrm>
          <a:prstGeom prst="roundRect">
            <a:avLst>
              <a:gd name="adj" fmla="val 8000"/>
            </a:avLst>
          </a:prstGeom>
          <a:solidFill>
            <a:srgbClr val="0E1729"/>
          </a:solidFill>
          <a:ln w="10160">
            <a:solidFill>
              <a:srgbClr val="2332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572768"/>
            <a:ext cx="3529584" cy="54864"/>
          </a:xfrm>
          <a:prstGeom prst="roundRect">
            <a:avLst>
              <a:gd name="adj" fmla="val 0"/>
            </a:avLst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6384" y="1792224"/>
            <a:ext cx="30175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1">
                <a:solidFill>
                  <a:srgbClr val="EEF3FF"/>
                </a:solidFill>
                <a:latin typeface="Microsoft YaHei"/>
                <a:ea typeface="Microsoft YaHei"/>
                <a:cs typeface="Microsoft YaHei"/>
              </a:rPr>
              <a:t>密钥安全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2212848"/>
            <a:ext cx="3063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6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embedding.key 单独文件、0600；GET 不返回；不要提交到 Git。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79392" y="1572768"/>
            <a:ext cx="3529584" cy="1572768"/>
          </a:xfrm>
          <a:prstGeom prst="roundRect">
            <a:avLst>
              <a:gd name="adj" fmla="val 8000"/>
            </a:avLst>
          </a:prstGeom>
          <a:solidFill>
            <a:srgbClr val="0E1729"/>
          </a:solidFill>
          <a:ln w="10160">
            <a:solidFill>
              <a:srgbClr val="2332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279392" y="1572768"/>
            <a:ext cx="3529584" cy="54864"/>
          </a:xfrm>
          <a:prstGeom prst="roundRect">
            <a:avLst>
              <a:gd name="adj" fmla="val 0"/>
            </a:avLst>
          </a:prstGeom>
          <a:solidFill>
            <a:srgbClr val="F5B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98848" y="1792224"/>
            <a:ext cx="30175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1">
                <a:solidFill>
                  <a:srgbClr val="EEF3FF"/>
                </a:solidFill>
                <a:latin typeface="Microsoft YaHei"/>
                <a:ea typeface="Microsoft YaHei"/>
                <a:cs typeface="Microsoft YaHei"/>
              </a:rPr>
              <a:t>隐私边界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98848" y="2212848"/>
            <a:ext cx="3063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6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记忆是本地明文 JSON；开启 embedding 会把查询文本发给供应商。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91855" y="1572768"/>
            <a:ext cx="3529584" cy="1572768"/>
          </a:xfrm>
          <a:prstGeom prst="roundRect">
            <a:avLst>
              <a:gd name="adj" fmla="val 8000"/>
            </a:avLst>
          </a:prstGeom>
          <a:solidFill>
            <a:srgbClr val="0E1729"/>
          </a:solidFill>
          <a:ln w="10160">
            <a:solidFill>
              <a:srgbClr val="2332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991855" y="1572768"/>
            <a:ext cx="3529584" cy="54864"/>
          </a:xfrm>
          <a:prstGeom prst="roundRect">
            <a:avLst>
              <a:gd name="adj" fmla="val 0"/>
            </a:avLst>
          </a:prstGeom>
          <a:solidFill>
            <a:srgbClr val="3AD6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11311" y="1792224"/>
            <a:ext cx="30175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1">
                <a:solidFill>
                  <a:srgbClr val="EEF3FF"/>
                </a:solidFill>
                <a:latin typeface="Microsoft YaHei"/>
                <a:ea typeface="Microsoft YaHei"/>
                <a:cs typeface="Microsoft YaHei"/>
              </a:rPr>
              <a:t>Token 预算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11311" y="2212848"/>
            <a:ext cx="3063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6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默认注入 ≤1400 字符；active 单独 420；可关 active 或调小。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3401568"/>
            <a:ext cx="3529584" cy="1572768"/>
          </a:xfrm>
          <a:prstGeom prst="roundRect">
            <a:avLst>
              <a:gd name="adj" fmla="val 8000"/>
            </a:avLst>
          </a:prstGeom>
          <a:solidFill>
            <a:srgbClr val="0E1729"/>
          </a:solidFill>
          <a:ln w="10160">
            <a:solidFill>
              <a:srgbClr val="2332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66928" y="3401568"/>
            <a:ext cx="3529584" cy="54864"/>
          </a:xfrm>
          <a:prstGeom prst="roundRect">
            <a:avLst>
              <a:gd name="adj" fmla="val 0"/>
            </a:avLst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86384" y="3621024"/>
            <a:ext cx="30175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1">
                <a:solidFill>
                  <a:srgbClr val="EEF3FF"/>
                </a:solidFill>
                <a:latin typeface="Microsoft YaHei"/>
                <a:ea typeface="Microsoft YaHei"/>
                <a:cs typeface="Microsoft YaHei"/>
              </a:rPr>
              <a:t>更新重启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6384" y="4041648"/>
            <a:ext cx="3063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6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client 半启动时加载；更新插件后刷新页面不够，要重启 DSH。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79392" y="3401568"/>
            <a:ext cx="3529584" cy="1572768"/>
          </a:xfrm>
          <a:prstGeom prst="roundRect">
            <a:avLst>
              <a:gd name="adj" fmla="val 8000"/>
            </a:avLst>
          </a:prstGeom>
          <a:solidFill>
            <a:srgbClr val="0E1729"/>
          </a:solidFill>
          <a:ln w="10160">
            <a:solidFill>
              <a:srgbClr val="2332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279392" y="3401568"/>
            <a:ext cx="3529584" cy="54864"/>
          </a:xfrm>
          <a:prstGeom prst="roundRect">
            <a:avLst>
              <a:gd name="adj" fmla="val 0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98848" y="3621024"/>
            <a:ext cx="30175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1">
                <a:solidFill>
                  <a:srgbClr val="EEF3FF"/>
                </a:solidFill>
                <a:latin typeface="Microsoft YaHei"/>
                <a:ea typeface="Microsoft YaHei"/>
                <a:cs typeface="Microsoft YaHei"/>
              </a:rPr>
              <a:t>异步蒸馏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98848" y="4041648"/>
            <a:ext cx="3063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6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turn/end 后异步；headless 退出太快可能丢最后一条；L3 可能暂为 0。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991855" y="3401568"/>
            <a:ext cx="3529584" cy="1572768"/>
          </a:xfrm>
          <a:prstGeom prst="roundRect">
            <a:avLst>
              <a:gd name="adj" fmla="val 8000"/>
            </a:avLst>
          </a:prstGeom>
          <a:solidFill>
            <a:srgbClr val="0E1729"/>
          </a:solidFill>
          <a:ln w="10160">
            <a:solidFill>
              <a:srgbClr val="2332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7991855" y="3401568"/>
            <a:ext cx="3529584" cy="54864"/>
          </a:xfrm>
          <a:prstGeom prst="roundRect">
            <a:avLst>
              <a:gd name="adj" fmla="val 0"/>
            </a:avLst>
          </a:prstGeom>
          <a:solidFill>
            <a:srgbClr val="5B7C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11311" y="3621024"/>
            <a:ext cx="30175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1">
                <a:solidFill>
                  <a:srgbClr val="EEF3FF"/>
                </a:solidFill>
                <a:latin typeface="Microsoft YaHei"/>
                <a:ea typeface="Microsoft YaHei"/>
                <a:cs typeface="Microsoft YaHei"/>
              </a:rPr>
              <a:t>Scope 隔离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11311" y="4041648"/>
            <a:ext cx="3063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6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user 跨项目、project 跟工作区；共享/备份前先确认里面没有秘密。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66928" y="5074920"/>
            <a:ext cx="11064240" cy="1024128"/>
          </a:xfrm>
          <a:prstGeom prst="roundRect">
            <a:avLst>
              <a:gd name="adj" fmla="val 10000"/>
            </a:avLst>
          </a:prstGeom>
          <a:solidFill>
            <a:srgbClr val="0C162C"/>
          </a:solidFill>
          <a:ln w="11430">
            <a:solidFill>
              <a:srgbClr val="F5B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60" y="523036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60" b="0">
                <a:solidFill>
                  <a:srgbClr val="EEF3FF"/>
                </a:solidFill>
                <a:latin typeface="Microsoft YaHei"/>
                <a:ea typeface="Microsoft YaHei"/>
                <a:cs typeface="Microsoft YaHei"/>
              </a:rPr>
              <a:t>兼容性：DSH 0.2.x。persona 模板不要写 {{cwd}}（只注册 provider/model）；工作目录由 runtime context 提供。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" y="5705856"/>
            <a:ext cx="10607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8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建议先在小 workspace 试运行，确认召回质量和 token 成本后再日常使用。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6928" y="6446520"/>
            <a:ext cx="7772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5F6E8C"/>
                </a:solidFill>
                <a:latin typeface="Segoe UI"/>
                <a:ea typeface="Segoe UI"/>
                <a:cs typeface="Segoe UI"/>
              </a:rPr>
              <a:t>dsh-holo-memory  ·  DeepSeek Harness memory plugin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881360" y="641908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50" b="0">
                <a:solidFill>
                  <a:srgbClr val="93A1BF"/>
                </a:solidFill>
                <a:latin typeface="Segoe UI"/>
                <a:ea typeface="Segoe UI"/>
                <a:cs typeface="Segoe UI"/>
              </a:rPr>
              <a:t>10 / 11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-s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38404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4ADE80"/>
                </a:solidFill>
                <a:latin typeface="Segoe UI"/>
                <a:ea typeface="Segoe UI"/>
                <a:cs typeface="Segoe UI"/>
              </a:rPr>
              <a:t>THANKS / LINKS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85216" y="640080"/>
            <a:ext cx="310896" cy="32004"/>
          </a:xfrm>
          <a:prstGeom prst="roundRect">
            <a:avLst>
              <a:gd name="adj" fmla="val 0"/>
            </a:avLst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3504" y="1645920"/>
            <a:ext cx="8229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800" b="1">
                <a:solidFill>
                  <a:srgbClr val="EEF3FF"/>
                </a:solidFill>
                <a:latin typeface="Microsoft YaHei"/>
                <a:ea typeface="Microsoft YaHei"/>
                <a:cs typeface="Microsoft YaHei"/>
              </a:rPr>
              <a:t>记住该记住的，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3504" y="2331720"/>
            <a:ext cx="8229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800" b="1">
                <a:solidFill>
                  <a:srgbClr val="3AD6E8"/>
                </a:solidFill>
                <a:latin typeface="Microsoft YaHei"/>
                <a:ea typeface="Microsoft YaHei"/>
                <a:cs typeface="Microsoft YaHei"/>
              </a:rPr>
              <a:t>忘掉该忘掉的。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246120"/>
            <a:ext cx="7772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三层记忆 · 混合召回 · 主动补位 · 引用回写 · 全程可审计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977639"/>
            <a:ext cx="5029200" cy="1280160"/>
          </a:xfrm>
          <a:prstGeom prst="roundRect">
            <a:avLst>
              <a:gd name="adj" fmla="val 8000"/>
            </a:avLst>
          </a:prstGeom>
          <a:solidFill>
            <a:srgbClr val="0E1729"/>
          </a:solidFill>
          <a:ln w="10160">
            <a:solidFill>
              <a:srgbClr val="2332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133087"/>
            <a:ext cx="1828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1">
                <a:solidFill>
                  <a:srgbClr val="5F6E8C"/>
                </a:solidFill>
                <a:latin typeface="Segoe UI"/>
                <a:ea typeface="Segoe UI"/>
                <a:cs typeface="Segoe UI"/>
              </a:rPr>
              <a:t>REPOSITORY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4443984"/>
            <a:ext cx="4572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3AD6E8"/>
                </a:solidFill>
                <a:latin typeface="Consolas"/>
                <a:ea typeface="Consolas"/>
                <a:cs typeface="Consolas"/>
              </a:rPr>
              <a:t>github.com/Kaede0757-sudo/dsh-holo-memory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818888"/>
            <a:ext cx="44805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8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源码 · README · PPT 生成脚本 · 控制台截图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0" y="3977639"/>
            <a:ext cx="5623560" cy="1280160"/>
          </a:xfrm>
          <a:prstGeom prst="roundRect">
            <a:avLst>
              <a:gd name="adj" fmla="val 8000"/>
            </a:avLst>
          </a:prstGeom>
          <a:solidFill>
            <a:srgbClr val="0E1729"/>
          </a:solidFill>
          <a:ln w="10160">
            <a:solidFill>
              <a:srgbClr val="2332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72200" y="4133087"/>
            <a:ext cx="1371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1">
                <a:solidFill>
                  <a:srgbClr val="5F6E8C"/>
                </a:solidFill>
                <a:latin typeface="Segoe UI"/>
                <a:ea typeface="Segoe UI"/>
                <a:cs typeface="Segoe UI"/>
              </a:rPr>
              <a:t>VERSION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72200" y="4443984"/>
            <a:ext cx="29260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4ADE80"/>
                </a:solidFill>
                <a:latin typeface="Consolas"/>
                <a:ea typeface="Consolas"/>
                <a:cs typeface="Consolas"/>
              </a:rPr>
              <a:t>v0.3.0  ·  2026.10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72200" y="4818888"/>
            <a:ext cx="5120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80" b="0">
                <a:solidFill>
                  <a:srgbClr val="93A1BF"/>
                </a:solidFill>
                <a:latin typeface="Microsoft YaHei"/>
                <a:ea typeface="Microsoft YaHei"/>
                <a:cs typeface="Microsoft YaHei"/>
              </a:rPr>
              <a:t>测试 24/24  ·  RRF / Active Window / Citation / Bands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806440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5F6E8C"/>
                </a:solidFill>
                <a:latin typeface="Segoe UI"/>
                <a:ea typeface="Segoe UI"/>
                <a:cs typeface="Segoe UI"/>
              </a:rPr>
              <a:t>dsh-holo-memory  ·  DeepSeek Harness memory plugin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81360" y="571500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5F6E8C"/>
                </a:solidFill>
                <a:latin typeface="Segoe UI"/>
                <a:ea typeface="Segoe UI"/>
                <a:cs typeface="Segoe UI"/>
              </a:rPr>
              <a:t>END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dsh-holo-memory — 三层全息记忆</dc:title>
  <dc:subject>DeepSeek Harness memory plugin introduction and installation</dc:subject>
  <dc:creator>dsh-holo-memory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